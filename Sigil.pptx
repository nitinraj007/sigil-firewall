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T Serif"/>
      <p:regular r:id="rId17"/>
    </p:embeddedFont>
    <p:embeddedFont>
      <p:font typeface="PT Serif"/>
      <p:regular r:id="rId18"/>
    </p:embeddedFont>
    <p:embeddedFont>
      <p:font typeface="PT Serif"/>
      <p:regular r:id="rId19"/>
    </p:embeddedFont>
    <p:embeddedFont>
      <p:font typeface="PT Serif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gil" TargetMode="External"/><Relationship Id="rId4" Type="http://schemas.openxmlformats.org/officeDocument/2006/relationships/hyperlink" Target="https://docs.sigil" TargetMode="External"/><Relationship Id="rId6" Type="http://schemas.openxmlformats.org/officeDocument/2006/relationships/hyperlink" Target="https://demo.sigil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5" Type="http://schemas.openxmlformats.org/officeDocument/2006/relationships/image" Target="../media/image-10-3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79" y="1544479"/>
            <a:ext cx="5140643" cy="51406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0508" y="1295876"/>
            <a:ext cx="5517237" cy="45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$3.5B Lost. No One Was Checking.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970508" y="1876187"/>
            <a:ext cx="7261979" cy="907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00"/>
              </a:lnSpc>
              <a:buNone/>
            </a:pPr>
            <a:r>
              <a:rPr lang="en-US" sz="5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 Built SIGIL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5970508" y="2910245"/>
            <a:ext cx="8175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supply chain security that catches threats before they execute. Built to stop the attacks that slipped past everyone else.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970508" y="3361373"/>
            <a:ext cx="553283" cy="829866"/>
          </a:xfrm>
          <a:prstGeom prst="roundRect">
            <a:avLst>
              <a:gd name="adj" fmla="val 360012"/>
            </a:avLst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6143387" y="3646646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08088" y="3499604"/>
            <a:ext cx="181546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70508" y="4275534"/>
            <a:ext cx="553283" cy="829866"/>
          </a:xfrm>
          <a:prstGeom prst="roundRect">
            <a:avLst>
              <a:gd name="adj" fmla="val 360012"/>
            </a:avLst>
          </a:prstGeom>
          <a:solidFill>
            <a:srgbClr val="E04F00"/>
          </a:solidFill>
          <a:ln/>
        </p:spPr>
      </p:sp>
      <p:sp>
        <p:nvSpPr>
          <p:cNvPr id="10" name="Text 7"/>
          <p:cNvSpPr/>
          <p:nvPr/>
        </p:nvSpPr>
        <p:spPr>
          <a:xfrm>
            <a:off x="6143387" y="4560808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08088" y="4413766"/>
            <a:ext cx="181546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Ollama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70508" y="5189696"/>
            <a:ext cx="553283" cy="829866"/>
          </a:xfrm>
          <a:prstGeom prst="roundRect">
            <a:avLst>
              <a:gd name="adj" fmla="val 360012"/>
            </a:avLst>
          </a:prstGeom>
          <a:solidFill>
            <a:srgbClr val="E04F00"/>
          </a:solidFill>
          <a:ln/>
        </p:spPr>
      </p:sp>
      <p:sp>
        <p:nvSpPr>
          <p:cNvPr id="13" name="Text 10"/>
          <p:cNvSpPr/>
          <p:nvPr/>
        </p:nvSpPr>
        <p:spPr>
          <a:xfrm>
            <a:off x="6143387" y="5474970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08088" y="5327928"/>
            <a:ext cx="181546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Polygon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70508" y="6103858"/>
            <a:ext cx="553283" cy="829866"/>
          </a:xfrm>
          <a:prstGeom prst="roundRect">
            <a:avLst>
              <a:gd name="adj" fmla="val 360012"/>
            </a:avLst>
          </a:prstGeom>
          <a:solidFill>
            <a:srgbClr val="E04F00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387" y="6389132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08088" y="6242090"/>
            <a:ext cx="181546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Next.js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635" y="1695926"/>
            <a:ext cx="5497711" cy="514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$3.5B Supply Chain Crisis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35635" y="2373630"/>
            <a:ext cx="8045529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major attacks compromised millions of users. Zero tools caught them in time.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212086" y="2707958"/>
            <a:ext cx="22860" cy="2200394"/>
          </a:xfrm>
          <a:prstGeom prst="roundRect">
            <a:avLst>
              <a:gd name="adj" fmla="val 102975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6365736" y="2872978"/>
            <a:ext cx="470773" cy="22860"/>
          </a:xfrm>
          <a:prstGeom prst="roundRect">
            <a:avLst>
              <a:gd name="adj" fmla="val 102975"/>
            </a:avLst>
          </a:prstGeom>
          <a:solidFill>
            <a:srgbClr val="D8D4D4"/>
          </a:solidFill>
          <a:ln/>
        </p:spPr>
      </p:sp>
      <p:sp>
        <p:nvSpPr>
          <p:cNvPr id="7" name="Shape 4"/>
          <p:cNvSpPr/>
          <p:nvPr/>
        </p:nvSpPr>
        <p:spPr>
          <a:xfrm>
            <a:off x="6035576" y="2707958"/>
            <a:ext cx="353020" cy="3530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088499" y="2729984"/>
            <a:ext cx="247055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996827" y="2761893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March 2024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96827" y="3084433"/>
            <a:ext cx="7084338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XZ Backdoor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Backdoored compression library exploited in Linux distributions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65736" y="3678793"/>
            <a:ext cx="470773" cy="22860"/>
          </a:xfrm>
          <a:prstGeom prst="roundRect">
            <a:avLst>
              <a:gd name="adj" fmla="val 102975"/>
            </a:avLst>
          </a:prstGeom>
          <a:solidFill>
            <a:srgbClr val="D8D4D4"/>
          </a:solidFill>
          <a:ln/>
        </p:spPr>
      </p:sp>
      <p:sp>
        <p:nvSpPr>
          <p:cNvPr id="12" name="Shape 9"/>
          <p:cNvSpPr/>
          <p:nvPr/>
        </p:nvSpPr>
        <p:spPr>
          <a:xfrm>
            <a:off x="6035576" y="3513773"/>
            <a:ext cx="353020" cy="3530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088499" y="3535799"/>
            <a:ext cx="247055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996827" y="3567708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Event-Stream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96827" y="3890248"/>
            <a:ext cx="7084338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Popular npm package hijacked to steal cryptocurrency wallets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65736" y="4484608"/>
            <a:ext cx="470773" cy="22860"/>
          </a:xfrm>
          <a:prstGeom prst="roundRect">
            <a:avLst>
              <a:gd name="adj" fmla="val 102975"/>
            </a:avLst>
          </a:prstGeom>
          <a:solidFill>
            <a:srgbClr val="D8D4D4"/>
          </a:solidFill>
          <a:ln/>
        </p:spPr>
      </p:sp>
      <p:sp>
        <p:nvSpPr>
          <p:cNvPr id="17" name="Shape 14"/>
          <p:cNvSpPr/>
          <p:nvPr/>
        </p:nvSpPr>
        <p:spPr>
          <a:xfrm>
            <a:off x="6035576" y="4319587"/>
            <a:ext cx="353020" cy="3530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6088499" y="4341614"/>
            <a:ext cx="247055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996827" y="4373523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96827" y="4696063"/>
            <a:ext cx="7084338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Malicious dependency injected into widely-used ML framework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35635" y="5108853"/>
            <a:ext cx="2591395" cy="517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$3.5B</a:t>
            </a:r>
            <a:endParaRPr lang="en-US" sz="4050" dirty="0"/>
          </a:p>
        </p:txBody>
      </p:sp>
      <p:sp>
        <p:nvSpPr>
          <p:cNvPr id="22" name="Text 19"/>
          <p:cNvSpPr/>
          <p:nvPr/>
        </p:nvSpPr>
        <p:spPr>
          <a:xfrm>
            <a:off x="6301502" y="5786438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Loss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35635" y="6108978"/>
            <a:ext cx="2591395" cy="42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Estimated damages from supply chain attacks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62643" y="5108853"/>
            <a:ext cx="2591395" cy="517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100%</a:t>
            </a:r>
            <a:endParaRPr lang="en-US" sz="4050" dirty="0"/>
          </a:p>
        </p:txBody>
      </p:sp>
      <p:sp>
        <p:nvSpPr>
          <p:cNvPr id="25" name="Text 22"/>
          <p:cNvSpPr/>
          <p:nvPr/>
        </p:nvSpPr>
        <p:spPr>
          <a:xfrm>
            <a:off x="9028509" y="5786438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Missed Detection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762643" y="6108978"/>
            <a:ext cx="2591395" cy="42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tools failed to catch zero-days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489650" y="5108853"/>
            <a:ext cx="2591514" cy="517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</a:t>
            </a:r>
            <a:endParaRPr lang="en-US" sz="4050" dirty="0"/>
          </a:p>
        </p:txBody>
      </p:sp>
      <p:sp>
        <p:nvSpPr>
          <p:cNvPr id="28" name="Text 25"/>
          <p:cNvSpPr/>
          <p:nvPr/>
        </p:nvSpPr>
        <p:spPr>
          <a:xfrm>
            <a:off x="11755517" y="5786438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 Flagged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489650" y="6108978"/>
            <a:ext cx="2591514" cy="42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Threats executed undetected in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801" y="1256228"/>
            <a:ext cx="10786586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Industry Leaders Missed Critical Threats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9400" y="2695337"/>
            <a:ext cx="2286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23108" y="2354818"/>
            <a:ext cx="4324112" cy="2967038"/>
          </a:xfrm>
          <a:prstGeom prst="roundRect">
            <a:avLst>
              <a:gd name="adj" fmla="val 9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30728" y="2362438"/>
            <a:ext cx="4308872" cy="11070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828252" y="2473047"/>
            <a:ext cx="678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909221" y="2473047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XZ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986379" y="2473047"/>
            <a:ext cx="6749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Event-Stream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063537" y="2473047"/>
            <a:ext cx="6787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630728" y="3469481"/>
            <a:ext cx="4308872" cy="5164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828252" y="3580090"/>
            <a:ext cx="678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Snyk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909221" y="3580090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986379" y="3580090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3063537" y="3580090"/>
            <a:ext cx="678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30728" y="3985974"/>
            <a:ext cx="4308872" cy="81176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828252" y="4096583"/>
            <a:ext cx="6787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Socket.dev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0909221" y="4096583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1986379" y="4096583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3063537" y="4096583"/>
            <a:ext cx="678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630728" y="4797743"/>
            <a:ext cx="4308872" cy="5164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828252" y="4908352"/>
            <a:ext cx="678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SIGIL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10909221" y="4908352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1986379" y="4908352"/>
            <a:ext cx="674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3063537" y="4908352"/>
            <a:ext cx="678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690801" y="5708333"/>
            <a:ext cx="13248799" cy="1264920"/>
          </a:xfrm>
          <a:prstGeom prst="roundRect">
            <a:avLst>
              <a:gd name="adj" fmla="val 2341"/>
            </a:avLst>
          </a:prstGeom>
          <a:solidFill>
            <a:srgbClr val="FFCDB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87" y="5954078"/>
            <a:ext cx="323850" cy="2590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09224" y="5929313"/>
            <a:ext cx="25908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100% Detection Rate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409224" y="6424851"/>
            <a:ext cx="123330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SIGIL caught all three zero-day threats using behavioral AI analysis—where traditional CVE-based tools completely failed.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714137"/>
            <a:ext cx="5548313" cy="693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Security Gap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26135" y="1703070"/>
            <a:ext cx="475536" cy="475536"/>
          </a:xfrm>
          <a:prstGeom prst="roundRect">
            <a:avLst>
              <a:gd name="adj" fmla="val 6667"/>
            </a:avLst>
          </a:prstGeom>
          <a:solidFill>
            <a:srgbClr val="E04F00"/>
          </a:solidFill>
          <a:ln/>
        </p:spPr>
      </p:sp>
      <p:sp>
        <p:nvSpPr>
          <p:cNvPr id="5" name="Text 2"/>
          <p:cNvSpPr/>
          <p:nvPr/>
        </p:nvSpPr>
        <p:spPr>
          <a:xfrm>
            <a:off x="6297454" y="1732776"/>
            <a:ext cx="332899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898600" y="1775698"/>
            <a:ext cx="33395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Competitors Check ✓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898600" y="2240518"/>
            <a:ext cx="6992064" cy="151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Known CVE databases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Dependency tree analysis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License compliance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pinning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26135" y="4147185"/>
            <a:ext cx="475536" cy="475536"/>
          </a:xfrm>
          <a:prstGeom prst="roundRect">
            <a:avLst>
              <a:gd name="adj" fmla="val 6667"/>
            </a:avLst>
          </a:prstGeom>
          <a:solidFill>
            <a:srgbClr val="E04F00"/>
          </a:solidFill>
          <a:ln/>
        </p:spPr>
      </p:sp>
      <p:sp>
        <p:nvSpPr>
          <p:cNvPr id="9" name="Text 6"/>
          <p:cNvSpPr/>
          <p:nvPr/>
        </p:nvSpPr>
        <p:spPr>
          <a:xfrm>
            <a:off x="6297454" y="4176891"/>
            <a:ext cx="332899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98600" y="4219813"/>
            <a:ext cx="277415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They Miss ✗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6898600" y="4684633"/>
            <a:ext cx="6992064" cy="151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Zero-day behavioral patterns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Obfuscated malicious code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Polymorphic malware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execution analysis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543080" y="6640592"/>
            <a:ext cx="7347585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gap = your attack window.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CVE assignment takes weeks. Threats execute in seconds.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6135" y="6419017"/>
            <a:ext cx="22860" cy="1096328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4282"/>
            <a:ext cx="633948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Layers of Defense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221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SIGIL combines offline AI, blockchain verification, and real-time behavioral analysis to catch threats competitors miss.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598295" y="4042767"/>
            <a:ext cx="298073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Behavioral Analysis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4550926"/>
            <a:ext cx="378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LLM detects obfuscated code, mining scripts, and exfiltration patterns before execution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717" y="4852868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997994"/>
            <a:ext cx="307062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Blockchain Verification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9937790" y="3506153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Immutable on-chain hash storage provides tamper-proof audit trail across all package versions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3469243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4505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Offline Processing</a:t>
            </a:r>
            <a:endParaRPr lang="en-US" sz="2300" dirty="0"/>
          </a:p>
        </p:txBody>
      </p:sp>
      <p:sp>
        <p:nvSpPr>
          <p:cNvPr id="13" name="Text 7"/>
          <p:cNvSpPr/>
          <p:nvPr/>
        </p:nvSpPr>
        <p:spPr>
          <a:xfrm>
            <a:off x="9937790" y="5958721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local analysis ensures zero data leaks with 23ms average detection time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4326" y="6236494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082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SIGIL Works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3524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620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Terminal Intercept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641074" y="267021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npm install express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9612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229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Processing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7641074" y="403109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23ms analysis time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57011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838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Score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641074" y="539198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0-100 scale, color-coded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1789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447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Dashboard Alert</a:t>
            </a:r>
            <a:endParaRPr lang="en-US" sz="2300" dirty="0"/>
          </a:p>
        </p:txBody>
      </p:sp>
      <p:sp>
        <p:nvSpPr>
          <p:cNvPr id="15" name="Text 8"/>
          <p:cNvSpPr/>
          <p:nvPr/>
        </p:nvSpPr>
        <p:spPr>
          <a:xfrm>
            <a:off x="7641074" y="675286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visualization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386"/>
            <a:ext cx="1055965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Offline AI Detection Powered by Ollama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314" y="25425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1106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Mistral 7B Model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559981" y="2709505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local LLM detects: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3276481"/>
            <a:ext cx="828413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Obfuscated malicious code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Cryptocurrency miners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exfiltration attempts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 &amp; control callbacks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Suspicious entropy signatures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742623"/>
            <a:ext cx="4196358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59694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100% Local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20604" y="64775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cloud dependency—zero data leaks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5742623"/>
            <a:ext cx="4196358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5443776" y="59694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23ms Avg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5443776" y="64775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Detection time won't slow your workflow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5742623"/>
            <a:ext cx="4196358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9866948" y="59694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 False Positives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866948" y="647759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behavioral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484" y="1625084"/>
            <a:ext cx="4979432" cy="49794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6132" y="866061"/>
            <a:ext cx="7724537" cy="1330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Immutable On-Chain Verification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196132" y="2649855"/>
            <a:ext cx="361497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Deployed on Polygon Mumbai Testnet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196132" y="3496627"/>
            <a:ext cx="3614976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contracts store package hashes with version history accessible to anyone.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10313313" y="2672596"/>
            <a:ext cx="3614976" cy="1272421"/>
          </a:xfrm>
          <a:prstGeom prst="roundRect">
            <a:avLst>
              <a:gd name="adj" fmla="val 862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90453" y="2672596"/>
            <a:ext cx="91440" cy="1272421"/>
          </a:xfrm>
          <a:prstGeom prst="roundRect">
            <a:avLst>
              <a:gd name="adj" fmla="val 33267"/>
            </a:avLst>
          </a:prstGeom>
          <a:solidFill>
            <a:srgbClr val="E04F00"/>
          </a:solidFill>
          <a:ln/>
        </p:spPr>
      </p:sp>
      <p:sp>
        <p:nvSpPr>
          <p:cNvPr id="8" name="Text 5"/>
          <p:cNvSpPr/>
          <p:nvPr/>
        </p:nvSpPr>
        <p:spPr>
          <a:xfrm>
            <a:off x="10607516" y="2898219"/>
            <a:ext cx="279475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On-Chain Hash Storage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607516" y="3412212"/>
            <a:ext cx="3095149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Tamper-proof audit trail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313313" y="4126230"/>
            <a:ext cx="3614976" cy="1272421"/>
          </a:xfrm>
          <a:prstGeom prst="roundRect">
            <a:avLst>
              <a:gd name="adj" fmla="val 862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90453" y="4126230"/>
            <a:ext cx="91440" cy="1272421"/>
          </a:xfrm>
          <a:prstGeom prst="roundRect">
            <a:avLst>
              <a:gd name="adj" fmla="val 33267"/>
            </a:avLst>
          </a:prstGeom>
          <a:solidFill>
            <a:srgbClr val="E04F00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516" y="4351853"/>
            <a:ext cx="266164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Decentralized Trust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607516" y="4865846"/>
            <a:ext cx="3095149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single point of failure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10313313" y="5579864"/>
            <a:ext cx="3614976" cy="1579602"/>
          </a:xfrm>
          <a:prstGeom prst="roundRect">
            <a:avLst>
              <a:gd name="adj" fmla="val 6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90453" y="5579864"/>
            <a:ext cx="91440" cy="1579602"/>
          </a:xfrm>
          <a:prstGeom prst="roundRect">
            <a:avLst>
              <a:gd name="adj" fmla="val 33267"/>
            </a:avLst>
          </a:prstGeom>
          <a:solidFill>
            <a:srgbClr val="E04F00"/>
          </a:solidFill>
          <a:ln/>
        </p:spPr>
      </p:sp>
      <p:sp>
        <p:nvSpPr>
          <p:cNvPr id="16" name="Text 13"/>
          <p:cNvSpPr/>
          <p:nvPr/>
        </p:nvSpPr>
        <p:spPr>
          <a:xfrm>
            <a:off x="10607516" y="5805488"/>
            <a:ext cx="266164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Public Transparency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10607516" y="6319480"/>
            <a:ext cx="3095149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authenticity independently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10683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Demo: Real Threat Detection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4439364"/>
            <a:ext cx="755642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6268879" y="4439364"/>
            <a:ext cx="7579043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552367" y="4666178"/>
            <a:ext cx="70120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sigil install crypto-stealer
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715208"/>
            <a:ext cx="5538787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SIGIL Wins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38426" y="1800106"/>
            <a:ext cx="13153549" cy="2897743"/>
          </a:xfrm>
          <a:prstGeom prst="roundRect">
            <a:avLst>
              <a:gd name="adj" fmla="val 10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6046" y="1807726"/>
            <a:ext cx="13138309" cy="5765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7024" y="1933099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245412" y="1933099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Snyk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29989" y="1933099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Socket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814566" y="1933099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SIGIL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6046" y="2384227"/>
            <a:ext cx="13138309" cy="5765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7024" y="2509599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AI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245412" y="2509599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29989" y="2509599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814566" y="2509599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46046" y="2960727"/>
            <a:ext cx="13138309" cy="5765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7024" y="3086100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Blockchain Verification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245412" y="3086100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29989" y="3086100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814566" y="3086100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6046" y="3537228"/>
            <a:ext cx="13138309" cy="5765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57024" y="3662601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&amp; Open Source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245412" y="3662601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29989" y="3662601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814566" y="3662601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6046" y="4113728"/>
            <a:ext cx="13138309" cy="5765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7024" y="4239101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Zero-Day Detection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245412" y="4239101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29989" y="4239101"/>
            <a:ext cx="2855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814566" y="4239101"/>
            <a:ext cx="285881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38426" y="5024086"/>
            <a:ext cx="13153549" cy="33933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8426" y="5352336"/>
            <a:ext cx="5197912" cy="41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Secure Your Supply Chain. SIGIL It.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8426" y="6061948"/>
            <a:ext cx="1315354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for npm, pip, and Go ecosystems. Built in 48 hours with full-stack implementation: CLI, backend, frontend, and smart contracts.</a:t>
            </a:r>
            <a:endParaRPr lang="en-US" sz="1650" dirty="0"/>
          </a:p>
        </p:txBody>
      </p:sp>
      <p:pic>
        <p:nvPicPr>
          <p:cNvPr id="3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426" y="6934200"/>
            <a:ext cx="1992154" cy="580192"/>
          </a:xfrm>
          <a:prstGeom prst="rect">
            <a:avLst/>
          </a:prstGeom>
        </p:spPr>
      </p:pic>
      <p:pic>
        <p:nvPicPr>
          <p:cNvPr id="33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069" y="6934200"/>
            <a:ext cx="2006203" cy="580192"/>
          </a:xfrm>
          <a:prstGeom prst="rect">
            <a:avLst/>
          </a:prstGeom>
        </p:spPr>
      </p:pic>
      <p:pic>
        <p:nvPicPr>
          <p:cNvPr id="34" name="Image 2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761" y="6934200"/>
            <a:ext cx="1477566" cy="580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2026-03-29T05:24:09Z</dcterms:created>
  <dcterms:modified xsi:type="dcterms:W3CDTF">2026-03-29T05:24:09Z</dcterms:modified>
</cp:coreProperties>
</file>